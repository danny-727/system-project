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D26"/>
    <a:srgbClr val="00133A"/>
    <a:srgbClr val="0004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196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sv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11" Type="http://schemas.openxmlformats.org/officeDocument/2006/relationships/image" Target="../media/image29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295" y="256133"/>
            <a:ext cx="438150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tourly.io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774" y="730188"/>
            <a:ext cx="14573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spcAft>
                <a:spcPts val="810"/>
              </a:spcAft>
              <a:buNone/>
            </a:pPr>
            <a:r>
              <a:rPr lang="en-US" sz="650" b="1" kern="0" spc="32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DOCS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0" y="970434"/>
            <a:ext cx="19050" cy="109537"/>
          </a:xfrm>
          <a:prstGeom prst="roundRect">
            <a:avLst>
              <a:gd name="adj" fmla="val 50000"/>
            </a:avLst>
          </a:prstGeom>
          <a:solidFill>
            <a:srgbClr val="7AA2F7"/>
          </a:solidFill>
          <a:ln/>
        </p:spPr>
      </p:sp>
      <p:sp>
        <p:nvSpPr>
          <p:cNvPr id="8" name="Text 6"/>
          <p:cNvSpPr/>
          <p:nvPr/>
        </p:nvSpPr>
        <p:spPr>
          <a:xfrm>
            <a:off x="64740" y="966192"/>
            <a:ext cx="4147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ts val="1080"/>
              </a:lnSpc>
              <a:buNone/>
            </a:pPr>
            <a:r>
              <a:rPr lang="en-US" sz="72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274774" y="1170422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274774" y="1384660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Back-end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274774" y="1598898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274774" y="1942021"/>
            <a:ext cx="14573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spcAft>
                <a:spcPts val="810"/>
              </a:spcAft>
              <a:buNone/>
            </a:pPr>
            <a:r>
              <a:rPr lang="en-US" sz="650" b="1" kern="0" spc="32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74774" y="2168017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274774" y="2382255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74774" y="2596493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74774" y="4776713"/>
            <a:ext cx="1457325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spcBef>
                <a:spcPts val="16083"/>
              </a:spcBef>
              <a:buNone/>
            </a:pPr>
            <a:r>
              <a:rPr lang="en-US" sz="5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v1.0.0 • 2026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2560774" y="410952"/>
            <a:ext cx="6034088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810"/>
              </a:spcAft>
              <a:buNone/>
            </a:pPr>
            <a:r>
              <a:rPr lang="en-US" sz="720" b="1" kern="0" spc="36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PRESENTATION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2560774" y="652463"/>
            <a:ext cx="6034088" cy="5191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104"/>
              </a:lnSpc>
              <a:buNone/>
            </a:pPr>
            <a:r>
              <a:rPr lang="en-US" sz="4320" b="1" kern="0" spc="-10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</a:t>
            </a:r>
            <a:endParaRPr lang="en-US" sz="4320" dirty="0"/>
          </a:p>
        </p:txBody>
      </p:sp>
      <p:sp>
        <p:nvSpPr>
          <p:cNvPr id="19" name="Text 17"/>
          <p:cNvSpPr/>
          <p:nvPr/>
        </p:nvSpPr>
        <p:spPr>
          <a:xfrm>
            <a:off x="2560216" y="1276573"/>
            <a:ext cx="3657600" cy="4000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84"/>
              </a:lnSpc>
              <a:spcBef>
                <a:spcPts val="810"/>
              </a:spcBef>
              <a:spcAft>
                <a:spcPts val="2025"/>
              </a:spcAft>
              <a:buNone/>
            </a:pPr>
            <a:r>
              <a:rPr lang="en-US" sz="115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modern travel-planning platform — architecture, delivery plan, and operating model.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439" y="1934319"/>
            <a:ext cx="2266950" cy="381000"/>
          </a:xfrm>
          <a:prstGeom prst="roundRect">
            <a:avLst>
              <a:gd name="adj" fmla="val 12000"/>
            </a:avLst>
          </a:prstGeom>
          <a:solidFill>
            <a:srgbClr val="9DCE6C">
              <a:alpha val="10196"/>
            </a:srgbClr>
          </a:solidFill>
          <a:ln w="4763">
            <a:solidFill>
              <a:srgbClr val="A0CD69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7032" y="2048619"/>
            <a:ext cx="242888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b="1" dirty="0">
                <a:solidFill>
                  <a:srgbClr val="9EC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DECK</a:t>
            </a:r>
            <a:endParaRPr lang="en-US" sz="790" dirty="0"/>
          </a:p>
        </p:txBody>
      </p:sp>
      <p:sp>
        <p:nvSpPr>
          <p:cNvPr id="22" name="Text 20"/>
          <p:cNvSpPr/>
          <p:nvPr/>
        </p:nvSpPr>
        <p:spPr>
          <a:xfrm>
            <a:off x="3125912" y="2041475"/>
            <a:ext cx="1514475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/tourly/system-overview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2560737" y="2572755"/>
            <a:ext cx="2833687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2560737" y="2894707"/>
            <a:ext cx="2833687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buNone/>
            </a:pPr>
            <a:r>
              <a:rPr lang="en-US" sz="79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Stakeholders, engineering reviewers, and the project sponsor.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5761211" y="2572755"/>
            <a:ext cx="2833687" cy="219075"/>
          </a:xfrm>
          <a:prstGeom prst="rect">
            <a:avLst/>
          </a:prstGeom>
          <a:ln/>
        </p:spPr>
      </p:sp>
      <p:sp>
        <p:nvSpPr>
          <p:cNvPr id="26" name="Text 24"/>
          <p:cNvSpPr/>
          <p:nvPr/>
        </p:nvSpPr>
        <p:spPr>
          <a:xfrm>
            <a:off x="5761509" y="2570857"/>
            <a:ext cx="338137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33135" y="2625589"/>
            <a:ext cx="57150" cy="5715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28" name="Text 26"/>
          <p:cNvSpPr/>
          <p:nvPr/>
        </p:nvSpPr>
        <p:spPr>
          <a:xfrm>
            <a:off x="8334152" y="2589907"/>
            <a:ext cx="261937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dirty="0">
                <a:solidFill>
                  <a:srgbClr val="9EC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READY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5761211" y="2896307"/>
            <a:ext cx="2833687" cy="1619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87"/>
              </a:lnSpc>
              <a:buNone/>
            </a:pPr>
            <a:r>
              <a:rPr lang="en-US" sz="79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 sections covering the full system and delivery plan.</a:t>
            </a:r>
            <a:endParaRPr lang="en-US" sz="790" dirty="0"/>
          </a:p>
        </p:txBody>
      </p:sp>
      <p:sp>
        <p:nvSpPr>
          <p:cNvPr id="30" name="Text 28"/>
          <p:cNvSpPr/>
          <p:nvPr/>
        </p:nvSpPr>
        <p:spPr>
          <a:xfrm>
            <a:off x="2560290" y="4594436"/>
            <a:ext cx="1095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7647496" y="4601580"/>
            <a:ext cx="947737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Tourly, Inc. — May 2026</a:t>
            </a:r>
            <a:endParaRPr lang="en-US" sz="65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0737" y="2572755"/>
            <a:ext cx="2833687" cy="219075"/>
          </a:xfrm>
          <a:prstGeom prst="rect">
            <a:avLst/>
          </a:prstGeom>
        </p:spPr>
      </p:pic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61211" y="2572755"/>
            <a:ext cx="2833687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295" y="256133"/>
            <a:ext cx="438150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tourly.io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774" y="730188"/>
            <a:ext cx="14573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spcAft>
                <a:spcPts val="810"/>
              </a:spcAft>
              <a:buNone/>
            </a:pPr>
            <a:r>
              <a:rPr lang="en-US" sz="650" b="1" kern="0" spc="32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DOCS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774" y="956183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0" y="1184672"/>
            <a:ext cx="19050" cy="109537"/>
          </a:xfrm>
          <a:prstGeom prst="roundRect">
            <a:avLst>
              <a:gd name="adj" fmla="val 50000"/>
            </a:avLst>
          </a:prstGeom>
          <a:solidFill>
            <a:srgbClr val="7AA2F7"/>
          </a:solidFill>
          <a:ln/>
        </p:spPr>
      </p:sp>
      <p:sp>
        <p:nvSpPr>
          <p:cNvPr id="9" name="Text 7"/>
          <p:cNvSpPr/>
          <p:nvPr/>
        </p:nvSpPr>
        <p:spPr>
          <a:xfrm>
            <a:off x="64740" y="1180430"/>
            <a:ext cx="6767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ts val="1080"/>
              </a:lnSpc>
              <a:buNone/>
            </a:pPr>
            <a:r>
              <a:rPr lang="en-US" sz="72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274774" y="1384660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Back-end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274774" y="1598898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274774" y="1942021"/>
            <a:ext cx="14573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spcAft>
                <a:spcPts val="810"/>
              </a:spcAft>
              <a:buNone/>
            </a:pPr>
            <a:r>
              <a:rPr lang="en-US" sz="650" b="1" kern="0" spc="32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74774" y="2168017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274774" y="2382255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74774" y="2596493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74774" y="4776713"/>
            <a:ext cx="1457325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spcBef>
                <a:spcPts val="16083"/>
              </a:spcBef>
              <a:buNone/>
            </a:pPr>
            <a:r>
              <a:rPr lang="en-US" sz="5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v1.0.0 • 2026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2560774" y="410952"/>
            <a:ext cx="6034088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810"/>
              </a:spcAft>
              <a:buNone/>
            </a:pPr>
            <a:r>
              <a:rPr lang="en-US" sz="720" b="1" kern="0" spc="36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01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2560774" y="650491"/>
            <a:ext cx="6034088" cy="6191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860"/>
              </a:lnSpc>
              <a:buNone/>
            </a:pPr>
            <a:r>
              <a:rPr lang="en-US" sz="3240" b="1" kern="0" spc="-8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Processes</a:t>
            </a:r>
            <a:endParaRPr lang="en-US" sz="3240" dirty="0"/>
          </a:p>
        </p:txBody>
      </p:sp>
      <p:sp>
        <p:nvSpPr>
          <p:cNvPr id="19" name="Text 17"/>
          <p:cNvSpPr/>
          <p:nvPr/>
        </p:nvSpPr>
        <p:spPr>
          <a:xfrm>
            <a:off x="2560216" y="1371302"/>
            <a:ext cx="4114800" cy="3524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spcBef>
                <a:spcPts val="810"/>
              </a:spcBef>
              <a:spcAft>
                <a:spcPts val="2025"/>
              </a:spcAft>
              <a:buNone/>
            </a:pPr>
            <a:r>
              <a:rPr lang="en-US" sz="101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 is delivered through three iterative phases, each ending in a working build reviewed with stakeholders.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2559248" y="1979712"/>
            <a:ext cx="276225" cy="276225"/>
          </a:xfrm>
          <a:prstGeom prst="ellipse">
            <a:avLst/>
          </a:prstGeom>
          <a:solidFill>
            <a:srgbClr val="76A7F5">
              <a:alpha val="10196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3017379" y="1981126"/>
            <a:ext cx="5029200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Aft>
                <a:spcPts val="324"/>
              </a:spcAft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&amp; Design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3017379" y="2227659"/>
            <a:ext cx="5029200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9"/>
              </a:lnSpc>
              <a:buNone/>
            </a:pPr>
            <a:r>
              <a:rPr lang="en-US" sz="79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 gathering, user-flow mapping, wireframes, and an approved visual system. Output: design spec and component inventory.</a:t>
            </a:r>
            <a:endParaRPr lang="en-US" sz="790" dirty="0"/>
          </a:p>
        </p:txBody>
      </p:sp>
      <p:sp>
        <p:nvSpPr>
          <p:cNvPr id="23" name="Text 21"/>
          <p:cNvSpPr/>
          <p:nvPr/>
        </p:nvSpPr>
        <p:spPr>
          <a:xfrm>
            <a:off x="2559248" y="2683148"/>
            <a:ext cx="276225" cy="276225"/>
          </a:xfrm>
          <a:prstGeom prst="ellipse">
            <a:avLst/>
          </a:prstGeom>
          <a:solidFill>
            <a:srgbClr val="9DCE6C">
              <a:alpha val="10196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9ECE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3017379" y="2684562"/>
            <a:ext cx="5029200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Aft>
                <a:spcPts val="324"/>
              </a:spcAft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&amp; Iterate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3017379" y="2931096"/>
            <a:ext cx="5029200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9"/>
              </a:lnSpc>
              <a:spcAft>
                <a:spcPts val="607"/>
              </a:spcAft>
              <a:buNone/>
            </a:pPr>
            <a:r>
              <a:rPr lang="en-US" sz="79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Two-week sprints. Contract-first APIs with OpenAPI codegen, paired with a React front-end. Continuous integration on every commit.</a:t>
            </a:r>
            <a:endParaRPr lang="en-US" sz="790" dirty="0"/>
          </a:p>
        </p:txBody>
      </p:sp>
      <p:sp>
        <p:nvSpPr>
          <p:cNvPr id="26" name="Text 24"/>
          <p:cNvSpPr/>
          <p:nvPr/>
        </p:nvSpPr>
        <p:spPr>
          <a:xfrm>
            <a:off x="3017379" y="3284637"/>
            <a:ext cx="5029200" cy="304800"/>
          </a:xfrm>
          <a:prstGeom prst="roundRect">
            <a:avLst>
              <a:gd name="adj" fmla="val 15000"/>
            </a:avLst>
          </a:prstGeom>
          <a:solidFill>
            <a:srgbClr val="16161E"/>
          </a:solidFill>
          <a:ln w="4763">
            <a:solidFill>
              <a:srgbClr val="FFFFFF">
                <a:alpha val="5098"/>
              </a:srgbClr>
            </a:solidFill>
            <a:prstDash val="solid"/>
          </a:ln>
          <a:effectLst>
            <a:outerShdw blurRad="101600" dist="50800" dir="162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12"/>
              </a:lnSpc>
              <a:buNone/>
            </a:pPr>
            <a:r>
              <a:rPr lang="en-US" sz="68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r>
              <a:rPr lang="en-US" sz="680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pnpm</a:t>
            </a:r>
            <a:r>
              <a:rPr lang="en-US" sz="68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run typecheck &amp;&amp; pnpm run build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2559248" y="3768477"/>
            <a:ext cx="276225" cy="276225"/>
          </a:xfrm>
          <a:prstGeom prst="ellipse">
            <a:avLst/>
          </a:prstGeom>
          <a:solidFill>
            <a:srgbClr val="E2B16C">
              <a:alpha val="10196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E0AF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3017379" y="3769891"/>
            <a:ext cx="5029200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Aft>
                <a:spcPts val="324"/>
              </a:spcAft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&amp; Operate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3017379" y="4016425"/>
            <a:ext cx="5029200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9"/>
              </a:lnSpc>
              <a:buNone/>
            </a:pPr>
            <a:r>
              <a:rPr lang="en-US" sz="79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deployment with monitoring, log aggregation, and a feedback loop into the next iteration. Hand-off includes runbook and on-call rota.</a:t>
            </a:r>
            <a:endParaRPr lang="en-US" sz="790" dirty="0"/>
          </a:p>
        </p:txBody>
      </p:sp>
      <p:sp>
        <p:nvSpPr>
          <p:cNvPr id="30" name="Text 28"/>
          <p:cNvSpPr/>
          <p:nvPr/>
        </p:nvSpPr>
        <p:spPr>
          <a:xfrm>
            <a:off x="2560290" y="4594436"/>
            <a:ext cx="1095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8167167" y="4601580"/>
            <a:ext cx="4286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Tourly, Inc.</a:t>
            </a:r>
            <a:endParaRPr lang="en-US" sz="65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295" y="256133"/>
            <a:ext cx="438150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tourly.io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774" y="730188"/>
            <a:ext cx="14573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spcAft>
                <a:spcPts val="810"/>
              </a:spcAft>
              <a:buNone/>
            </a:pPr>
            <a:r>
              <a:rPr lang="en-US" sz="650" b="1" kern="0" spc="32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DOCS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774" y="956183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274774" y="1170422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0" y="1398910"/>
            <a:ext cx="19050" cy="109537"/>
          </a:xfrm>
          <a:prstGeom prst="roundRect">
            <a:avLst>
              <a:gd name="adj" fmla="val 50000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/>
          <p:nvPr/>
        </p:nvSpPr>
        <p:spPr>
          <a:xfrm>
            <a:off x="64740" y="1394668"/>
            <a:ext cx="4186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ts val="1080"/>
              </a:lnSpc>
              <a:buNone/>
            </a:pPr>
            <a:r>
              <a:rPr lang="en-US" sz="72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Back-end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274774" y="1598898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274774" y="1942021"/>
            <a:ext cx="14573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spcAft>
                <a:spcPts val="810"/>
              </a:spcAft>
              <a:buNone/>
            </a:pPr>
            <a:r>
              <a:rPr lang="en-US" sz="650" b="1" kern="0" spc="32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74774" y="2168017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274774" y="2382255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74774" y="2596493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74774" y="4776713"/>
            <a:ext cx="1457325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spcBef>
                <a:spcPts val="16083"/>
              </a:spcBef>
              <a:buNone/>
            </a:pPr>
            <a:r>
              <a:rPr lang="en-US" sz="5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v1.0.0 • 2026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2560774" y="410952"/>
            <a:ext cx="6034088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810"/>
              </a:spcAft>
              <a:buNone/>
            </a:pPr>
            <a:r>
              <a:rPr lang="en-US" sz="720" b="1" kern="0" spc="36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2560774" y="650491"/>
            <a:ext cx="6034088" cy="6191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860"/>
              </a:lnSpc>
              <a:buNone/>
            </a:pPr>
            <a:r>
              <a:rPr lang="en-US" sz="3240" b="1" kern="0" spc="-8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Back-end Support Systems</a:t>
            </a:r>
            <a:endParaRPr lang="en-US" sz="3240" dirty="0"/>
          </a:p>
        </p:txBody>
      </p:sp>
      <p:sp>
        <p:nvSpPr>
          <p:cNvPr id="19" name="Text 17"/>
          <p:cNvSpPr/>
          <p:nvPr/>
        </p:nvSpPr>
        <p:spPr>
          <a:xfrm>
            <a:off x="2560216" y="1371302"/>
            <a:ext cx="4114800" cy="3524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spcBef>
                <a:spcPts val="810"/>
              </a:spcBef>
              <a:spcAft>
                <a:spcPts val="2025"/>
              </a:spcAft>
              <a:buNone/>
            </a:pPr>
            <a:r>
              <a:rPr lang="en-US" sz="101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typed, contract-first service layer built on Node.js, Express, and PostgreSQL.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2559807" y="1980121"/>
            <a:ext cx="2881313" cy="1457325"/>
          </a:xfrm>
          <a:prstGeom prst="roundRect">
            <a:avLst>
              <a:gd name="adj" fmla="val 3137"/>
            </a:avLst>
          </a:prstGeom>
          <a:solidFill>
            <a:srgbClr val="16161E"/>
          </a:solidFill>
          <a:ln w="4763">
            <a:solidFill>
              <a:srgbClr val="FFFFFF">
                <a:alpha val="5098"/>
              </a:srgbClr>
            </a:solidFill>
            <a:prstDash val="solid"/>
          </a:ln>
          <a:effectLst>
            <a:outerShdw blurRad="101600" dist="50800" dir="162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7925" y="2114885"/>
            <a:ext cx="2505075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Endpoint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2747925" y="2412392"/>
            <a:ext cx="2505075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20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</a:t>
            </a: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/api/trips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2747925" y="2560997"/>
            <a:ext cx="2505075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2747925" y="2709602"/>
            <a:ext cx="2505075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20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"destination"</a:t>
            </a: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720" dirty="0">
                <a:solidFill>
                  <a:srgbClr val="E0AF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"Lisbon"</a:t>
            </a: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2747925" y="2858207"/>
            <a:ext cx="2505075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20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"days"</a:t>
            </a: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72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2747925" y="3006812"/>
            <a:ext cx="2505075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20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"budget"</a:t>
            </a: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72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1800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2747925" y="3155417"/>
            <a:ext cx="2505075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5714591" y="1980121"/>
            <a:ext cx="2881313" cy="1457325"/>
          </a:xfrm>
          <a:prstGeom prst="roundRect">
            <a:avLst>
              <a:gd name="adj" fmla="val 3137"/>
            </a:avLst>
          </a:prstGeom>
          <a:solidFill>
            <a:srgbClr val="16161E"/>
          </a:solidFill>
          <a:ln w="4763">
            <a:solidFill>
              <a:srgbClr val="FFFFFF">
                <a:alpha val="5098"/>
              </a:srgbClr>
            </a:solidFill>
            <a:prstDash val="solid"/>
          </a:ln>
          <a:effectLst>
            <a:outerShdw blurRad="101600" dist="50800" dir="162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02709" y="2114885"/>
            <a:ext cx="2505075" cy="219075"/>
          </a:xfrm>
          <a:prstGeom prst="rect">
            <a:avLst/>
          </a:prstGeom>
          <a:ln/>
        </p:spPr>
      </p:sp>
      <p:sp>
        <p:nvSpPr>
          <p:cNvPr id="30" name="Text 28"/>
          <p:cNvSpPr/>
          <p:nvPr/>
        </p:nvSpPr>
        <p:spPr>
          <a:xfrm>
            <a:off x="5902040" y="2112987"/>
            <a:ext cx="523875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8010190" y="2167719"/>
            <a:ext cx="57150" cy="5715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32" name="Text 30"/>
          <p:cNvSpPr/>
          <p:nvPr/>
        </p:nvSpPr>
        <p:spPr>
          <a:xfrm>
            <a:off x="8112249" y="2134381"/>
            <a:ext cx="29527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9EC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201 OK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902709" y="2412392"/>
            <a:ext cx="2505075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902709" y="2560997"/>
            <a:ext cx="2505075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20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"trip_id"</a:t>
            </a: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720" dirty="0">
                <a:solidFill>
                  <a:srgbClr val="E0AF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"trp_8f2a"</a:t>
            </a: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5902709" y="2709602"/>
            <a:ext cx="2505075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20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"itinerary"</a:t>
            </a: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[ ... ],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5902709" y="2858207"/>
            <a:ext cx="2505075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20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"created_at"</a:t>
            </a: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72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1747641600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902709" y="3006812"/>
            <a:ext cx="2505075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560700" y="3642978"/>
            <a:ext cx="1919287" cy="638175"/>
          </a:xfrm>
          <a:prstGeom prst="roundRect">
            <a:avLst>
              <a:gd name="adj" fmla="val 7164"/>
            </a:avLst>
          </a:prstGeom>
          <a:solidFill>
            <a:srgbClr val="FFFFFF">
              <a:alpha val="1961"/>
            </a:srgbClr>
          </a:solidFill>
          <a:ln w="4763">
            <a:solidFill>
              <a:srgbClr val="FFFFFF">
                <a:alpha val="5098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01193" y="3750729"/>
            <a:ext cx="1638300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spcAft>
                <a:spcPts val="324"/>
              </a:spcAft>
              <a:buNone/>
            </a:pPr>
            <a:r>
              <a:rPr lang="en-US" sz="7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Layer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2701193" y="3935537"/>
            <a:ext cx="1638300" cy="2381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6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5 with Zod validation generated from an OpenAPI spec.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4618137" y="3642978"/>
            <a:ext cx="1919287" cy="638175"/>
          </a:xfrm>
          <a:prstGeom prst="roundRect">
            <a:avLst>
              <a:gd name="adj" fmla="val 7164"/>
            </a:avLst>
          </a:prstGeom>
          <a:solidFill>
            <a:srgbClr val="FFFFFF">
              <a:alpha val="1961"/>
            </a:srgbClr>
          </a:solidFill>
          <a:ln w="4763">
            <a:solidFill>
              <a:srgbClr val="FFFFFF">
                <a:alpha val="5098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8630" y="3750729"/>
            <a:ext cx="1638300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spcAft>
                <a:spcPts val="324"/>
              </a:spcAft>
              <a:buNone/>
            </a:pPr>
            <a:r>
              <a:rPr lang="en-US" sz="7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Store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4758630" y="3935537"/>
            <a:ext cx="1638300" cy="2381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6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with Drizzle ORM and migration-tracked schemas.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6675574" y="3642978"/>
            <a:ext cx="1919287" cy="638175"/>
          </a:xfrm>
          <a:prstGeom prst="roundRect">
            <a:avLst>
              <a:gd name="adj" fmla="val 7164"/>
            </a:avLst>
          </a:prstGeom>
          <a:solidFill>
            <a:srgbClr val="FFFFFF">
              <a:alpha val="1961"/>
            </a:srgbClr>
          </a:solidFill>
          <a:ln w="4763">
            <a:solidFill>
              <a:srgbClr val="FFFFFF">
                <a:alpha val="5098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6068" y="3750729"/>
            <a:ext cx="1638300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spcAft>
                <a:spcPts val="324"/>
              </a:spcAft>
              <a:buNone/>
            </a:pPr>
            <a:r>
              <a:rPr lang="en-US" sz="7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6816068" y="3935537"/>
            <a:ext cx="1638300" cy="2381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6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Pino structured logs, healthchecks, and managed deployment.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2560290" y="4594436"/>
            <a:ext cx="1095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8167167" y="4601580"/>
            <a:ext cx="4286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Tourly, Inc.</a:t>
            </a:r>
            <a:endParaRPr lang="en-US" sz="650" dirty="0"/>
          </a:p>
        </p:txBody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47925" y="2114885"/>
            <a:ext cx="2505075" cy="219075"/>
          </a:xfrm>
          <a:prstGeom prst="rect">
            <a:avLst/>
          </a:prstGeom>
        </p:spPr>
      </p:pic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02709" y="2114885"/>
            <a:ext cx="250507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295" y="256133"/>
            <a:ext cx="438150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tourly.io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774" y="730188"/>
            <a:ext cx="14573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spcAft>
                <a:spcPts val="810"/>
              </a:spcAft>
              <a:buNone/>
            </a:pPr>
            <a:r>
              <a:rPr lang="en-US" sz="650" b="1" kern="0" spc="32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DOCS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774" y="956183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274774" y="1170422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274774" y="1384660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Back-end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0" y="1613148"/>
            <a:ext cx="19050" cy="109537"/>
          </a:xfrm>
          <a:prstGeom prst="roundRect">
            <a:avLst>
              <a:gd name="adj" fmla="val 50000"/>
            </a:avLst>
          </a:prstGeom>
          <a:solidFill>
            <a:srgbClr val="7AA2F7"/>
          </a:solidFill>
          <a:ln/>
        </p:spPr>
      </p:sp>
      <p:sp>
        <p:nvSpPr>
          <p:cNvPr id="11" name="Text 9"/>
          <p:cNvSpPr/>
          <p:nvPr/>
        </p:nvSpPr>
        <p:spPr>
          <a:xfrm>
            <a:off x="64740" y="1608906"/>
            <a:ext cx="4320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ts val="1080"/>
              </a:lnSpc>
              <a:buNone/>
            </a:pPr>
            <a:r>
              <a:rPr lang="en-US" sz="72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274774" y="1942021"/>
            <a:ext cx="14573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spcAft>
                <a:spcPts val="810"/>
              </a:spcAft>
              <a:buNone/>
            </a:pPr>
            <a:r>
              <a:rPr lang="en-US" sz="650" b="1" kern="0" spc="32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74774" y="2168017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274774" y="2382255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74774" y="2596493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74774" y="4776713"/>
            <a:ext cx="1457325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spcBef>
                <a:spcPts val="16083"/>
              </a:spcBef>
              <a:buNone/>
            </a:pPr>
            <a:r>
              <a:rPr lang="en-US" sz="5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v1.0.0 • 2026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2560774" y="410952"/>
            <a:ext cx="6034088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810"/>
              </a:spcAft>
              <a:buNone/>
            </a:pPr>
            <a:r>
              <a:rPr lang="en-US" sz="720" b="1" kern="0" spc="36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03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2560774" y="650491"/>
            <a:ext cx="6034088" cy="6191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860"/>
              </a:lnSpc>
              <a:buNone/>
            </a:pPr>
            <a:r>
              <a:rPr lang="en-US" sz="3240" b="1" kern="0" spc="-8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 User Interface</a:t>
            </a:r>
            <a:endParaRPr lang="en-US" sz="3240" dirty="0"/>
          </a:p>
        </p:txBody>
      </p:sp>
      <p:sp>
        <p:nvSpPr>
          <p:cNvPr id="19" name="Text 17"/>
          <p:cNvSpPr/>
          <p:nvPr/>
        </p:nvSpPr>
        <p:spPr>
          <a:xfrm>
            <a:off x="2560216" y="1371302"/>
            <a:ext cx="4114800" cy="3524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spcBef>
                <a:spcPts val="810"/>
              </a:spcBef>
              <a:spcAft>
                <a:spcPts val="2025"/>
              </a:spcAft>
              <a:buNone/>
            </a:pPr>
            <a:r>
              <a:rPr lang="en-US" sz="101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responsive, accessible client built on plain HTML, CSS, and modern JavaScript — engineered for clarity and speed.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2560737" y="1981535"/>
            <a:ext cx="3067050" cy="2095500"/>
          </a:xfrm>
          <a:prstGeom prst="roundRect">
            <a:avLst>
              <a:gd name="adj" fmla="val 2182"/>
            </a:avLst>
          </a:prstGeom>
          <a:solidFill>
            <a:srgbClr val="16161E"/>
          </a:solidFill>
          <a:ln w="4763">
            <a:solidFill>
              <a:srgbClr val="FFFFFF">
                <a:alpha val="5098"/>
              </a:srgbClr>
            </a:solidFill>
            <a:prstDash val="solid"/>
          </a:ln>
          <a:effectLst>
            <a:outerShdw blurRad="101600" dist="50800" dir="162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8855" y="2114885"/>
            <a:ext cx="2690812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Composition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2748855" y="2412392"/>
            <a:ext cx="2690812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20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&lt;header&gt;</a:t>
            </a: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nav + brand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2748855" y="2560997"/>
            <a:ext cx="2690812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20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&lt;main&gt;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2748855" y="2709602"/>
            <a:ext cx="2690812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20" dirty="0">
                <a:solidFill>
                  <a:srgbClr val="9EC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hero</a:t>
            </a: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destination search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2748855" y="2858207"/>
            <a:ext cx="2690812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20" dirty="0">
                <a:solidFill>
                  <a:srgbClr val="9EC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grid</a:t>
            </a: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itinerary cards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2748855" y="3006812"/>
            <a:ext cx="2690812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20" dirty="0">
                <a:solidFill>
                  <a:srgbClr val="9EC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panel</a:t>
            </a: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trip details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2748855" y="3155417"/>
            <a:ext cx="2690812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20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&lt;footer&gt;</a:t>
            </a:r>
            <a:r>
              <a:rPr lang="en-US" sz="720" dirty="0">
                <a:solidFill>
                  <a:srgbClr val="C0CA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links + meta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5903640" y="1981609"/>
            <a:ext cx="2690812" cy="628650"/>
          </a:xfrm>
          <a:prstGeom prst="roundRect">
            <a:avLst>
              <a:gd name="adj" fmla="val 7273"/>
            </a:avLst>
          </a:prstGeom>
          <a:solidFill>
            <a:srgbClr val="FFFFFF">
              <a:alpha val="1961"/>
            </a:srgbClr>
          </a:solidFill>
          <a:ln w="4763">
            <a:solidFill>
              <a:srgbClr val="FFFFFF">
                <a:alpha val="5098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72708" y="2087538"/>
            <a:ext cx="23526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Aft>
                <a:spcPts val="203"/>
              </a:spcAft>
              <a:buNone/>
            </a:pPr>
            <a:r>
              <a:rPr lang="en-US" sz="7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System</a:t>
            </a:r>
            <a:endParaRPr lang="en-US" sz="790" dirty="0"/>
          </a:p>
        </p:txBody>
      </p:sp>
      <p:sp>
        <p:nvSpPr>
          <p:cNvPr id="30" name="Text 28"/>
          <p:cNvSpPr/>
          <p:nvPr/>
        </p:nvSpPr>
        <p:spPr>
          <a:xfrm>
            <a:off x="6072708" y="2265164"/>
            <a:ext cx="2352675" cy="2381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6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for color, type, and spacing keep every screen on-brand.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5903640" y="2714960"/>
            <a:ext cx="2690812" cy="628650"/>
          </a:xfrm>
          <a:prstGeom prst="roundRect">
            <a:avLst>
              <a:gd name="adj" fmla="val 7273"/>
            </a:avLst>
          </a:prstGeom>
          <a:solidFill>
            <a:srgbClr val="FFFFFF">
              <a:alpha val="1961"/>
            </a:srgbClr>
          </a:solidFill>
          <a:ln w="4763">
            <a:solidFill>
              <a:srgbClr val="FFFFFF">
                <a:alpha val="5098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72708" y="2820888"/>
            <a:ext cx="23526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Aft>
                <a:spcPts val="203"/>
              </a:spcAft>
              <a:buNone/>
            </a:pPr>
            <a:r>
              <a:rPr lang="en-US" sz="7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Layouts</a:t>
            </a:r>
            <a:endParaRPr lang="en-US" sz="790" dirty="0"/>
          </a:p>
        </p:txBody>
      </p:sp>
      <p:sp>
        <p:nvSpPr>
          <p:cNvPr id="33" name="Text 31"/>
          <p:cNvSpPr/>
          <p:nvPr/>
        </p:nvSpPr>
        <p:spPr>
          <a:xfrm>
            <a:off x="6072708" y="2998515"/>
            <a:ext cx="2352675" cy="2381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6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Grid and Flexbox adapt from mobile to ultra-wide displays.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5903640" y="3448310"/>
            <a:ext cx="2690812" cy="628650"/>
          </a:xfrm>
          <a:prstGeom prst="roundRect">
            <a:avLst>
              <a:gd name="adj" fmla="val 7273"/>
            </a:avLst>
          </a:prstGeom>
          <a:solidFill>
            <a:srgbClr val="FFFFFF">
              <a:alpha val="1961"/>
            </a:srgbClr>
          </a:solidFill>
          <a:ln w="4763">
            <a:solidFill>
              <a:srgbClr val="FFFFFF">
                <a:alpha val="5098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72708" y="3554239"/>
            <a:ext cx="23526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Aft>
                <a:spcPts val="203"/>
              </a:spcAft>
              <a:buNone/>
            </a:pPr>
            <a:r>
              <a:rPr lang="en-US" sz="7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</a:t>
            </a:r>
            <a:endParaRPr lang="en-US" sz="790" dirty="0"/>
          </a:p>
        </p:txBody>
      </p:sp>
      <p:sp>
        <p:nvSpPr>
          <p:cNvPr id="36" name="Text 34"/>
          <p:cNvSpPr/>
          <p:nvPr/>
        </p:nvSpPr>
        <p:spPr>
          <a:xfrm>
            <a:off x="6072708" y="3731865"/>
            <a:ext cx="2352675" cy="2381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6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HTML, ARIA labels, keyboard navigation, WCAG AA contrast.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2560700" y="4284092"/>
            <a:ext cx="1919287" cy="323850"/>
          </a:xfrm>
          <a:prstGeom prst="roundRect">
            <a:avLst>
              <a:gd name="adj" fmla="val 14118"/>
            </a:avLst>
          </a:prstGeom>
          <a:solidFill>
            <a:srgbClr val="FFFFFF">
              <a:alpha val="1961"/>
            </a:srgbClr>
          </a:solidFill>
          <a:ln w="4763">
            <a:solidFill>
              <a:srgbClr val="FFFFFF">
                <a:alpha val="5098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03165" y="4415061"/>
            <a:ext cx="61912" cy="61912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39" name="Text 37"/>
          <p:cNvSpPr/>
          <p:nvPr/>
        </p:nvSpPr>
        <p:spPr>
          <a:xfrm>
            <a:off x="2856867" y="4381723"/>
            <a:ext cx="709613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paint &lt; 1.2s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4618137" y="4284092"/>
            <a:ext cx="1919287" cy="323850"/>
          </a:xfrm>
          <a:prstGeom prst="roundRect">
            <a:avLst>
              <a:gd name="adj" fmla="val 14118"/>
            </a:avLst>
          </a:prstGeom>
          <a:solidFill>
            <a:srgbClr val="FFFFFF">
              <a:alpha val="1961"/>
            </a:srgbClr>
          </a:solidFill>
          <a:ln w="4763">
            <a:solidFill>
              <a:srgbClr val="FFFFFF">
                <a:alpha val="5098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60565" y="4415061"/>
            <a:ext cx="61912" cy="61912"/>
          </a:xfrm>
          <a:prstGeom prst="ellipse">
            <a:avLst/>
          </a:prstGeom>
          <a:solidFill>
            <a:srgbClr val="E0AF68"/>
          </a:solidFill>
          <a:ln/>
        </p:spPr>
      </p:sp>
      <p:sp>
        <p:nvSpPr>
          <p:cNvPr id="42" name="Text 40"/>
          <p:cNvSpPr/>
          <p:nvPr/>
        </p:nvSpPr>
        <p:spPr>
          <a:xfrm>
            <a:off x="4914081" y="4381723"/>
            <a:ext cx="985838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Mobile-first breakpoints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6675574" y="4284092"/>
            <a:ext cx="1919287" cy="323850"/>
          </a:xfrm>
          <a:prstGeom prst="roundRect">
            <a:avLst>
              <a:gd name="adj" fmla="val 14118"/>
            </a:avLst>
          </a:prstGeom>
          <a:solidFill>
            <a:srgbClr val="FFFFFF">
              <a:alpha val="1961"/>
            </a:srgbClr>
          </a:solidFill>
          <a:ln w="4763">
            <a:solidFill>
              <a:srgbClr val="FFFFFF">
                <a:alpha val="5098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18040" y="4415061"/>
            <a:ext cx="61912" cy="6191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45" name="Text 43"/>
          <p:cNvSpPr/>
          <p:nvPr/>
        </p:nvSpPr>
        <p:spPr>
          <a:xfrm>
            <a:off x="6971705" y="4381723"/>
            <a:ext cx="1295400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8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runtime framework lock-in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560290" y="4607979"/>
            <a:ext cx="1095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8167167" y="4615123"/>
            <a:ext cx="4286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Tourly, Inc.</a:t>
            </a:r>
            <a:endParaRPr lang="en-US" sz="650" dirty="0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  <p:pic>
        <p:nvPicPr>
          <p:cNvPr id="4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48855" y="2114885"/>
            <a:ext cx="2690812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295" y="256133"/>
            <a:ext cx="438150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tourly.io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774" y="730188"/>
            <a:ext cx="14573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spcAft>
                <a:spcPts val="810"/>
              </a:spcAft>
              <a:buNone/>
            </a:pPr>
            <a:r>
              <a:rPr lang="en-US" sz="650" b="1" kern="0" spc="32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DOCS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774" y="956183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274774" y="1170422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274774" y="1384660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Back-end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274774" y="1598898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274774" y="1942021"/>
            <a:ext cx="14573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spcAft>
                <a:spcPts val="810"/>
              </a:spcAft>
              <a:buNone/>
            </a:pPr>
            <a:r>
              <a:rPr lang="en-US" sz="650" b="1" kern="0" spc="32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0" y="2182267"/>
            <a:ext cx="19050" cy="109537"/>
          </a:xfrm>
          <a:prstGeom prst="roundRect">
            <a:avLst>
              <a:gd name="adj" fmla="val 50000"/>
            </a:avLst>
          </a:prstGeom>
          <a:solidFill>
            <a:srgbClr val="7AA2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740" y="2178025"/>
            <a:ext cx="4086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ts val="1080"/>
              </a:lnSpc>
              <a:buNone/>
            </a:pPr>
            <a:r>
              <a:rPr lang="en-US" sz="72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274774" y="2382255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74774" y="2596493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74774" y="4776713"/>
            <a:ext cx="1457325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spcBef>
                <a:spcPts val="16083"/>
              </a:spcBef>
              <a:buNone/>
            </a:pPr>
            <a:r>
              <a:rPr lang="en-US" sz="5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v1.0.0 • 2026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2560774" y="410952"/>
            <a:ext cx="6034088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810"/>
              </a:spcAft>
              <a:buNone/>
            </a:pPr>
            <a:r>
              <a:rPr lang="en-US" sz="720" b="1" kern="0" spc="36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04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2560774" y="650491"/>
            <a:ext cx="6034088" cy="6191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860"/>
              </a:lnSpc>
              <a:buNone/>
            </a:pPr>
            <a:r>
              <a:rPr lang="en-US" sz="3240" b="1" kern="0" spc="-8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</a:t>
            </a:r>
            <a:endParaRPr lang="en-US" sz="3240" dirty="0"/>
          </a:p>
        </p:txBody>
      </p:sp>
      <p:sp>
        <p:nvSpPr>
          <p:cNvPr id="19" name="Text 17"/>
          <p:cNvSpPr/>
          <p:nvPr/>
        </p:nvSpPr>
        <p:spPr>
          <a:xfrm>
            <a:off x="2560216" y="1371414"/>
            <a:ext cx="41148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spcBef>
                <a:spcPts val="810"/>
              </a:spcBef>
              <a:spcAft>
                <a:spcPts val="1620"/>
              </a:spcAft>
              <a:buNone/>
            </a:pPr>
            <a:r>
              <a:rPr lang="en-US" sz="101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16-week delivery plan with phase reviews at weeks 4, 10, and 14.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2560774" y="1752488"/>
            <a:ext cx="6034088" cy="2786063"/>
          </a:xfrm>
          <a:prstGeom prst="roundRect">
            <a:avLst>
              <a:gd name="adj" fmla="val 1641"/>
            </a:avLst>
          </a:prstGeom>
          <a:solidFill>
            <a:srgbClr val="16161E"/>
          </a:solidFill>
          <a:ln w="4763">
            <a:solidFill>
              <a:srgbClr val="FFFFFF">
                <a:alpha val="5098"/>
              </a:srgbClr>
            </a:solidFill>
            <a:prstDash val="solid"/>
          </a:ln>
          <a:effectLst>
            <a:outerShdw blurRad="101600" dist="50800" dir="162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8893" y="1860761"/>
            <a:ext cx="5657850" cy="219075"/>
          </a:xfrm>
          <a:prstGeom prst="rect">
            <a:avLst/>
          </a:prstGeom>
          <a:ln/>
        </p:spPr>
      </p:sp>
      <p:sp>
        <p:nvSpPr>
          <p:cNvPr id="22" name="Text 20"/>
          <p:cNvSpPr/>
          <p:nvPr/>
        </p:nvSpPr>
        <p:spPr>
          <a:xfrm>
            <a:off x="2748446" y="1860314"/>
            <a:ext cx="190976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b="1" kern="0" spc="36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796917" y="1860314"/>
            <a:ext cx="86677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b="1" kern="0" spc="36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802250" y="1860314"/>
            <a:ext cx="260508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b="1" kern="0" spc="36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748893" y="2079575"/>
            <a:ext cx="5657850" cy="471488"/>
          </a:xfrm>
          <a:prstGeom prst="rect">
            <a:avLst/>
          </a:prstGeom>
          <a:ln/>
        </p:spPr>
      </p:sp>
      <p:sp>
        <p:nvSpPr>
          <p:cNvPr id="26" name="Text 24"/>
          <p:cNvSpPr/>
          <p:nvPr/>
        </p:nvSpPr>
        <p:spPr>
          <a:xfrm>
            <a:off x="2748446" y="2172630"/>
            <a:ext cx="1909762" cy="1571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&amp; Design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2748446" y="2329867"/>
            <a:ext cx="1909762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Research, wireframes, brand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96917" y="2241463"/>
            <a:ext cx="866775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 – W4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5802250" y="2277182"/>
            <a:ext cx="2605087" cy="71438"/>
          </a:xfrm>
          <a:prstGeom prst="roundRect">
            <a:avLst>
              <a:gd name="adj" fmla="val 50000"/>
            </a:avLst>
          </a:prstGeom>
          <a:solidFill>
            <a:srgbClr val="FFFFFF">
              <a:alpha val="5098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801283" y="2277182"/>
            <a:ext cx="652463" cy="71438"/>
          </a:xfrm>
          <a:prstGeom prst="roundRect">
            <a:avLst>
              <a:gd name="adj" fmla="val 50000"/>
            </a:avLst>
          </a:prstGeom>
          <a:solidFill>
            <a:srgbClr val="7AA2F7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8893" y="2550616"/>
            <a:ext cx="5657850" cy="471488"/>
          </a:xfrm>
          <a:prstGeom prst="rect">
            <a:avLst/>
          </a:prstGeom>
          <a:ln/>
        </p:spPr>
      </p:sp>
      <p:sp>
        <p:nvSpPr>
          <p:cNvPr id="32" name="Text 30"/>
          <p:cNvSpPr/>
          <p:nvPr/>
        </p:nvSpPr>
        <p:spPr>
          <a:xfrm>
            <a:off x="2748446" y="2643671"/>
            <a:ext cx="1909762" cy="1571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Back-end Build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2748446" y="2800908"/>
            <a:ext cx="1909762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API, database, auth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4796917" y="2712504"/>
            <a:ext cx="866775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9EC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W3 – W10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5802250" y="2748223"/>
            <a:ext cx="2605087" cy="71438"/>
          </a:xfrm>
          <a:prstGeom prst="roundRect">
            <a:avLst>
              <a:gd name="adj" fmla="val 50000"/>
            </a:avLst>
          </a:prstGeom>
          <a:solidFill>
            <a:srgbClr val="FFFFFF">
              <a:alpha val="5098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126510" y="2748223"/>
            <a:ext cx="1304925" cy="71438"/>
          </a:xfrm>
          <a:prstGeom prst="roundRect">
            <a:avLst>
              <a:gd name="adj" fmla="val 50000"/>
            </a:avLst>
          </a:prstGeom>
          <a:solidFill>
            <a:srgbClr val="9ECE6A"/>
          </a:solidFill>
          <a:ln/>
        </p:spPr>
      </p:sp>
      <p:sp>
        <p:nvSpPr>
          <p:cNvPr id="37" name="Shape 35"/>
          <p:cNvSpPr/>
          <p:nvPr/>
        </p:nvSpPr>
        <p:spPr>
          <a:xfrm>
            <a:off x="2748893" y="3021657"/>
            <a:ext cx="5657850" cy="471488"/>
          </a:xfrm>
          <a:prstGeom prst="rect">
            <a:avLst/>
          </a:prstGeom>
          <a:ln/>
        </p:spPr>
      </p:sp>
      <p:sp>
        <p:nvSpPr>
          <p:cNvPr id="38" name="Text 36"/>
          <p:cNvSpPr/>
          <p:nvPr/>
        </p:nvSpPr>
        <p:spPr>
          <a:xfrm>
            <a:off x="2748446" y="3114712"/>
            <a:ext cx="1909762" cy="1571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 Build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2748446" y="3271949"/>
            <a:ext cx="1909762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UI, integration, polish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4796917" y="3183545"/>
            <a:ext cx="866775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E0AF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W5 – W12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5802250" y="3219264"/>
            <a:ext cx="2605087" cy="71438"/>
          </a:xfrm>
          <a:prstGeom prst="roundRect">
            <a:avLst>
              <a:gd name="adj" fmla="val 50000"/>
            </a:avLst>
          </a:prstGeom>
          <a:solidFill>
            <a:srgbClr val="FFFFFF">
              <a:alpha val="5098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52295" y="3219264"/>
            <a:ext cx="1304925" cy="71438"/>
          </a:xfrm>
          <a:prstGeom prst="roundRect">
            <a:avLst>
              <a:gd name="adj" fmla="val 50000"/>
            </a:avLst>
          </a:prstGeom>
          <a:solidFill>
            <a:srgbClr val="E0AF68"/>
          </a:solidFill>
          <a:ln/>
        </p:spPr>
      </p:sp>
      <p:sp>
        <p:nvSpPr>
          <p:cNvPr id="43" name="Shape 41"/>
          <p:cNvSpPr/>
          <p:nvPr/>
        </p:nvSpPr>
        <p:spPr>
          <a:xfrm>
            <a:off x="2748893" y="3492698"/>
            <a:ext cx="5657850" cy="471488"/>
          </a:xfrm>
          <a:prstGeom prst="rect">
            <a:avLst/>
          </a:prstGeom>
          <a:ln/>
        </p:spPr>
      </p:sp>
      <p:sp>
        <p:nvSpPr>
          <p:cNvPr id="44" name="Text 42"/>
          <p:cNvSpPr/>
          <p:nvPr/>
        </p:nvSpPr>
        <p:spPr>
          <a:xfrm>
            <a:off x="2748446" y="3585753"/>
            <a:ext cx="1909762" cy="1571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&amp; UAT</a:t>
            </a:r>
            <a:endParaRPr lang="en-US" sz="830" dirty="0"/>
          </a:p>
        </p:txBody>
      </p:sp>
      <p:sp>
        <p:nvSpPr>
          <p:cNvPr id="45" name="Text 43"/>
          <p:cNvSpPr/>
          <p:nvPr/>
        </p:nvSpPr>
        <p:spPr>
          <a:xfrm>
            <a:off x="2748446" y="3742990"/>
            <a:ext cx="1909762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Testing, accessibility, perf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796917" y="3654586"/>
            <a:ext cx="866775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W11 – W14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5802250" y="3690305"/>
            <a:ext cx="2605087" cy="71438"/>
          </a:xfrm>
          <a:prstGeom prst="roundRect">
            <a:avLst>
              <a:gd name="adj" fmla="val 50000"/>
            </a:avLst>
          </a:prstGeom>
          <a:solidFill>
            <a:srgbClr val="FFFFFF">
              <a:alpha val="5098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30058" y="3690305"/>
            <a:ext cx="652463" cy="71438"/>
          </a:xfrm>
          <a:prstGeom prst="roundRect">
            <a:avLst>
              <a:gd name="adj" fmla="val 50000"/>
            </a:avLst>
          </a:prstGeom>
          <a:solidFill>
            <a:srgbClr val="FF9E64"/>
          </a:solidFill>
          <a:ln/>
        </p:spPr>
      </p:sp>
      <p:sp>
        <p:nvSpPr>
          <p:cNvPr id="49" name="Text 47"/>
          <p:cNvSpPr/>
          <p:nvPr/>
        </p:nvSpPr>
        <p:spPr>
          <a:xfrm>
            <a:off x="2748446" y="4056794"/>
            <a:ext cx="1909762" cy="1571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&amp; Hand-off</a:t>
            </a:r>
            <a:endParaRPr lang="en-US" sz="830" dirty="0"/>
          </a:p>
        </p:txBody>
      </p:sp>
      <p:sp>
        <p:nvSpPr>
          <p:cNvPr id="50" name="Text 48"/>
          <p:cNvSpPr/>
          <p:nvPr/>
        </p:nvSpPr>
        <p:spPr>
          <a:xfrm>
            <a:off x="2748446" y="4214031"/>
            <a:ext cx="1909762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Deploy, docs, training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796917" y="4125627"/>
            <a:ext cx="866775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W14 – W16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5802250" y="4161346"/>
            <a:ext cx="2605087" cy="71438"/>
          </a:xfrm>
          <a:prstGeom prst="roundRect">
            <a:avLst>
              <a:gd name="adj" fmla="val 50000"/>
            </a:avLst>
          </a:prstGeom>
          <a:solidFill>
            <a:srgbClr val="FFFFFF">
              <a:alpha val="5098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918177" y="4161346"/>
            <a:ext cx="490537" cy="71438"/>
          </a:xfrm>
          <a:prstGeom prst="roundRect">
            <a:avLst>
              <a:gd name="adj" fmla="val 50000"/>
            </a:avLst>
          </a:prstGeom>
          <a:solidFill>
            <a:srgbClr val="7AA2F7"/>
          </a:solidFill>
          <a:ln/>
        </p:spPr>
      </p:sp>
      <p:sp>
        <p:nvSpPr>
          <p:cNvPr id="54" name="Text 52"/>
          <p:cNvSpPr/>
          <p:nvPr/>
        </p:nvSpPr>
        <p:spPr>
          <a:xfrm>
            <a:off x="2560290" y="4594436"/>
            <a:ext cx="1095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8167167" y="4601580"/>
            <a:ext cx="4286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Tourly, Inc.</a:t>
            </a:r>
            <a:endParaRPr lang="en-US" sz="650" dirty="0"/>
          </a:p>
        </p:txBody>
      </p:sp>
      <p:pic>
        <p:nvPicPr>
          <p:cNvPr id="5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  <p:pic>
        <p:nvPicPr>
          <p:cNvPr id="5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48893" y="1860761"/>
            <a:ext cx="5657850" cy="219075"/>
          </a:xfrm>
          <a:prstGeom prst="rect">
            <a:avLst/>
          </a:prstGeom>
        </p:spPr>
      </p:pic>
      <p:pic>
        <p:nvPicPr>
          <p:cNvPr id="5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48893" y="2079575"/>
            <a:ext cx="5657850" cy="471488"/>
          </a:xfrm>
          <a:prstGeom prst="rect">
            <a:avLst/>
          </a:prstGeom>
        </p:spPr>
      </p:pic>
      <p:pic>
        <p:nvPicPr>
          <p:cNvPr id="59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48893" y="2550616"/>
            <a:ext cx="5657850" cy="471488"/>
          </a:xfrm>
          <a:prstGeom prst="rect">
            <a:avLst/>
          </a:prstGeom>
        </p:spPr>
      </p:pic>
      <p:pic>
        <p:nvPicPr>
          <p:cNvPr id="60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48893" y="3021657"/>
            <a:ext cx="5657850" cy="471488"/>
          </a:xfrm>
          <a:prstGeom prst="rect">
            <a:avLst/>
          </a:prstGeom>
        </p:spPr>
      </p:pic>
      <p:pic>
        <p:nvPicPr>
          <p:cNvPr id="61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48893" y="3492698"/>
            <a:ext cx="5657850" cy="4714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24971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295" y="256133"/>
            <a:ext cx="438150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tourly.io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774" y="730188"/>
            <a:ext cx="14573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spcAft>
                <a:spcPts val="810"/>
              </a:spcAft>
              <a:buNone/>
            </a:pPr>
            <a:r>
              <a:rPr lang="en-US" sz="650" b="1" kern="0" spc="32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DOCS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774" y="956183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274774" y="1170422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274774" y="1384660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Back-end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274774" y="1598898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274774" y="1942021"/>
            <a:ext cx="14573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spcAft>
                <a:spcPts val="810"/>
              </a:spcAft>
              <a:buNone/>
            </a:pPr>
            <a:r>
              <a:rPr lang="en-US" sz="650" b="1" kern="0" spc="32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74774" y="2168017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0" y="2396505"/>
            <a:ext cx="19050" cy="109537"/>
          </a:xfrm>
          <a:prstGeom prst="roundRect">
            <a:avLst>
              <a:gd name="adj" fmla="val 50000"/>
            </a:avLst>
          </a:prstGeom>
          <a:solidFill>
            <a:srgbClr val="7AA2F7"/>
          </a:solidFill>
          <a:ln/>
        </p:spPr>
      </p:sp>
      <p:sp>
        <p:nvSpPr>
          <p:cNvPr id="14" name="Text 12"/>
          <p:cNvSpPr/>
          <p:nvPr/>
        </p:nvSpPr>
        <p:spPr>
          <a:xfrm>
            <a:off x="64740" y="2392263"/>
            <a:ext cx="3129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ts val="1080"/>
              </a:lnSpc>
              <a:buNone/>
            </a:pPr>
            <a:r>
              <a:rPr lang="en-US" sz="72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74774" y="2596493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74774" y="4776713"/>
            <a:ext cx="1457325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spcBef>
                <a:spcPts val="16083"/>
              </a:spcBef>
              <a:buNone/>
            </a:pPr>
            <a:r>
              <a:rPr lang="en-US" sz="5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v1.0.0 • 2026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2560774" y="410952"/>
            <a:ext cx="6034088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810"/>
              </a:spcAft>
              <a:buNone/>
            </a:pPr>
            <a:r>
              <a:rPr lang="en-US" sz="720" b="1" kern="0" spc="36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05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2560774" y="650491"/>
            <a:ext cx="6034088" cy="6191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860"/>
              </a:lnSpc>
              <a:buNone/>
            </a:pPr>
            <a:r>
              <a:rPr lang="en-US" sz="3240" b="1" kern="0" spc="-8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</a:t>
            </a:r>
            <a:endParaRPr lang="en-US" sz="3240" dirty="0"/>
          </a:p>
        </p:txBody>
      </p:sp>
      <p:sp>
        <p:nvSpPr>
          <p:cNvPr id="19" name="Text 17"/>
          <p:cNvSpPr/>
          <p:nvPr/>
        </p:nvSpPr>
        <p:spPr>
          <a:xfrm>
            <a:off x="2560216" y="1371414"/>
            <a:ext cx="41148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spcBef>
                <a:spcPts val="810"/>
              </a:spcBef>
              <a:spcAft>
                <a:spcPts val="1620"/>
              </a:spcAft>
              <a:buNone/>
            </a:pPr>
            <a:r>
              <a:rPr lang="en-US" sz="101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16-week build budget with a 10% contingency reserve.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2561295" y="1753195"/>
            <a:ext cx="3514725" cy="2381250"/>
          </a:xfrm>
          <a:prstGeom prst="roundRect">
            <a:avLst>
              <a:gd name="adj" fmla="val 1920"/>
            </a:avLst>
          </a:prstGeom>
          <a:solidFill>
            <a:srgbClr val="16161E"/>
          </a:solidFill>
          <a:ln w="4763">
            <a:solidFill>
              <a:srgbClr val="FFFFFF">
                <a:alpha val="5098"/>
              </a:srgbClr>
            </a:solidFill>
            <a:prstDash val="solid"/>
          </a:ln>
          <a:effectLst>
            <a:outerShdw blurRad="101600" dist="508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7032" y="1886508"/>
            <a:ext cx="3143250" cy="219075"/>
          </a:xfrm>
          <a:prstGeom prst="rect">
            <a:avLst/>
          </a:prstGeom>
          <a:ln/>
        </p:spPr>
      </p:sp>
      <p:sp>
        <p:nvSpPr>
          <p:cNvPr id="22" name="Text 20"/>
          <p:cNvSpPr/>
          <p:nvPr/>
        </p:nvSpPr>
        <p:spPr>
          <a:xfrm>
            <a:off x="2747888" y="1886062"/>
            <a:ext cx="143351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b="1" kern="0" spc="36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ITEM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317467" y="1886062"/>
            <a:ext cx="7191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080"/>
              </a:lnSpc>
              <a:buNone/>
            </a:pPr>
            <a:r>
              <a:rPr lang="en-US" sz="720" b="1" kern="0" spc="36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ALLOCATION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171480" y="1886062"/>
            <a:ext cx="7191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080"/>
              </a:lnSpc>
              <a:buNone/>
            </a:pPr>
            <a:r>
              <a:rPr lang="en-US" sz="720" b="1" kern="0" spc="36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USD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747032" y="2105695"/>
            <a:ext cx="3143250" cy="309562"/>
          </a:xfrm>
          <a:prstGeom prst="rect">
            <a:avLst/>
          </a:prstGeom>
          <a:ln/>
        </p:spPr>
      </p:sp>
      <p:sp>
        <p:nvSpPr>
          <p:cNvPr id="26" name="Text 24"/>
          <p:cNvSpPr/>
          <p:nvPr/>
        </p:nvSpPr>
        <p:spPr>
          <a:xfrm>
            <a:off x="2747888" y="2181895"/>
            <a:ext cx="14335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</a:t>
            </a:r>
            <a:endParaRPr lang="en-US" sz="790" dirty="0"/>
          </a:p>
        </p:txBody>
      </p:sp>
      <p:sp>
        <p:nvSpPr>
          <p:cNvPr id="27" name="Text 25"/>
          <p:cNvSpPr/>
          <p:nvPr/>
        </p:nvSpPr>
        <p:spPr>
          <a:xfrm>
            <a:off x="4317467" y="2189001"/>
            <a:ext cx="7191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080"/>
              </a:lnSpc>
              <a:buNone/>
            </a:pPr>
            <a:r>
              <a:rPr lang="en-US" sz="72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45%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5171480" y="2181895"/>
            <a:ext cx="719137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188"/>
              </a:lnSpc>
              <a:buNone/>
            </a:pPr>
            <a:r>
              <a:rPr lang="en-US" sz="790" dirty="0">
                <a:solidFill>
                  <a:srgbClr val="9EC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$54,000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2747032" y="2415555"/>
            <a:ext cx="3143250" cy="309562"/>
          </a:xfrm>
          <a:prstGeom prst="rect">
            <a:avLst/>
          </a:prstGeom>
          <a:ln/>
        </p:spPr>
      </p:sp>
      <p:sp>
        <p:nvSpPr>
          <p:cNvPr id="30" name="Text 28"/>
          <p:cNvSpPr/>
          <p:nvPr/>
        </p:nvSpPr>
        <p:spPr>
          <a:xfrm>
            <a:off x="2747888" y="2491755"/>
            <a:ext cx="14335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&amp; UX</a:t>
            </a:r>
            <a:endParaRPr lang="en-US" sz="790" dirty="0"/>
          </a:p>
        </p:txBody>
      </p:sp>
      <p:sp>
        <p:nvSpPr>
          <p:cNvPr id="31" name="Text 29"/>
          <p:cNvSpPr/>
          <p:nvPr/>
        </p:nvSpPr>
        <p:spPr>
          <a:xfrm>
            <a:off x="4317467" y="2498861"/>
            <a:ext cx="7191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080"/>
              </a:lnSpc>
              <a:buNone/>
            </a:pPr>
            <a:r>
              <a:rPr lang="en-US" sz="72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5171480" y="2491755"/>
            <a:ext cx="719137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188"/>
              </a:lnSpc>
              <a:buNone/>
            </a:pPr>
            <a:r>
              <a:rPr lang="en-US" sz="790" dirty="0">
                <a:solidFill>
                  <a:srgbClr val="9EC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$24,000</a:t>
            </a:r>
            <a:endParaRPr lang="en-US" sz="790" dirty="0"/>
          </a:p>
        </p:txBody>
      </p:sp>
      <p:sp>
        <p:nvSpPr>
          <p:cNvPr id="33" name="Shape 31"/>
          <p:cNvSpPr/>
          <p:nvPr/>
        </p:nvSpPr>
        <p:spPr>
          <a:xfrm>
            <a:off x="2747032" y="2725415"/>
            <a:ext cx="3143250" cy="309562"/>
          </a:xfrm>
          <a:prstGeom prst="rect">
            <a:avLst/>
          </a:prstGeom>
          <a:ln/>
        </p:spPr>
      </p:sp>
      <p:sp>
        <p:nvSpPr>
          <p:cNvPr id="34" name="Text 32"/>
          <p:cNvSpPr/>
          <p:nvPr/>
        </p:nvSpPr>
        <p:spPr>
          <a:xfrm>
            <a:off x="2747888" y="2801615"/>
            <a:ext cx="14335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</a:t>
            </a:r>
            <a:endParaRPr lang="en-US" sz="790" dirty="0"/>
          </a:p>
        </p:txBody>
      </p:sp>
      <p:sp>
        <p:nvSpPr>
          <p:cNvPr id="35" name="Text 33"/>
          <p:cNvSpPr/>
          <p:nvPr/>
        </p:nvSpPr>
        <p:spPr>
          <a:xfrm>
            <a:off x="4317467" y="2808722"/>
            <a:ext cx="7191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080"/>
              </a:lnSpc>
              <a:buNone/>
            </a:pPr>
            <a:r>
              <a:rPr lang="en-US" sz="72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12%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5171480" y="2801615"/>
            <a:ext cx="719137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188"/>
              </a:lnSpc>
              <a:buNone/>
            </a:pPr>
            <a:r>
              <a:rPr lang="en-US" sz="790" dirty="0">
                <a:solidFill>
                  <a:srgbClr val="9EC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$14,400</a:t>
            </a:r>
            <a:endParaRPr lang="en-US" sz="790" dirty="0"/>
          </a:p>
        </p:txBody>
      </p:sp>
      <p:sp>
        <p:nvSpPr>
          <p:cNvPr id="37" name="Shape 35"/>
          <p:cNvSpPr/>
          <p:nvPr/>
        </p:nvSpPr>
        <p:spPr>
          <a:xfrm>
            <a:off x="2747032" y="3035275"/>
            <a:ext cx="3143250" cy="309562"/>
          </a:xfrm>
          <a:prstGeom prst="rect">
            <a:avLst/>
          </a:prstGeom>
          <a:ln/>
        </p:spPr>
      </p:sp>
      <p:sp>
        <p:nvSpPr>
          <p:cNvPr id="38" name="Text 36"/>
          <p:cNvSpPr/>
          <p:nvPr/>
        </p:nvSpPr>
        <p:spPr>
          <a:xfrm>
            <a:off x="2747888" y="3111475"/>
            <a:ext cx="14335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&amp; Testing</a:t>
            </a:r>
            <a:endParaRPr lang="en-US" sz="790" dirty="0"/>
          </a:p>
        </p:txBody>
      </p:sp>
      <p:sp>
        <p:nvSpPr>
          <p:cNvPr id="39" name="Text 37"/>
          <p:cNvSpPr/>
          <p:nvPr/>
        </p:nvSpPr>
        <p:spPr>
          <a:xfrm>
            <a:off x="4317467" y="3118582"/>
            <a:ext cx="7191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080"/>
              </a:lnSpc>
              <a:buNone/>
            </a:pPr>
            <a:r>
              <a:rPr lang="en-US" sz="72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13%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171480" y="3111475"/>
            <a:ext cx="719137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188"/>
              </a:lnSpc>
              <a:buNone/>
            </a:pPr>
            <a:r>
              <a:rPr lang="en-US" sz="790" dirty="0">
                <a:solidFill>
                  <a:srgbClr val="9EC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$15,600</a:t>
            </a:r>
            <a:endParaRPr lang="en-US" sz="790" dirty="0"/>
          </a:p>
        </p:txBody>
      </p:sp>
      <p:sp>
        <p:nvSpPr>
          <p:cNvPr id="41" name="Text 39"/>
          <p:cNvSpPr/>
          <p:nvPr/>
        </p:nvSpPr>
        <p:spPr>
          <a:xfrm>
            <a:off x="2747888" y="3421335"/>
            <a:ext cx="14335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Contingency</a:t>
            </a:r>
            <a:endParaRPr lang="en-US" sz="790" dirty="0"/>
          </a:p>
        </p:txBody>
      </p:sp>
      <p:sp>
        <p:nvSpPr>
          <p:cNvPr id="42" name="Text 40"/>
          <p:cNvSpPr/>
          <p:nvPr/>
        </p:nvSpPr>
        <p:spPr>
          <a:xfrm>
            <a:off x="4317467" y="3428442"/>
            <a:ext cx="7191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080"/>
              </a:lnSpc>
              <a:buNone/>
            </a:pPr>
            <a:r>
              <a:rPr lang="en-US" sz="72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171480" y="3421335"/>
            <a:ext cx="719137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188"/>
              </a:lnSpc>
              <a:buNone/>
            </a:pPr>
            <a:r>
              <a:rPr lang="en-US" sz="790" dirty="0">
                <a:solidFill>
                  <a:srgbClr val="9EC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$12,000</a:t>
            </a:r>
            <a:endParaRPr lang="en-US" sz="790" dirty="0"/>
          </a:p>
        </p:txBody>
      </p:sp>
      <p:sp>
        <p:nvSpPr>
          <p:cNvPr id="44" name="Shape 42"/>
          <p:cNvSpPr/>
          <p:nvPr/>
        </p:nvSpPr>
        <p:spPr>
          <a:xfrm>
            <a:off x="2747032" y="3701281"/>
            <a:ext cx="3143250" cy="300038"/>
          </a:xfrm>
          <a:prstGeom prst="rect">
            <a:avLst/>
          </a:prstGeom>
          <a:ln/>
        </p:spPr>
      </p:sp>
      <p:sp>
        <p:nvSpPr>
          <p:cNvPr id="45" name="Text 43"/>
          <p:cNvSpPr/>
          <p:nvPr/>
        </p:nvSpPr>
        <p:spPr>
          <a:xfrm>
            <a:off x="2747888" y="3816958"/>
            <a:ext cx="1433513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940" dirty="0"/>
          </a:p>
        </p:txBody>
      </p:sp>
      <p:sp>
        <p:nvSpPr>
          <p:cNvPr id="46" name="Text 44"/>
          <p:cNvSpPr/>
          <p:nvPr/>
        </p:nvSpPr>
        <p:spPr>
          <a:xfrm>
            <a:off x="4317467" y="3836008"/>
            <a:ext cx="7191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080"/>
              </a:lnSpc>
              <a:buNone/>
            </a:pPr>
            <a:r>
              <a:rPr lang="en-US" sz="72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171480" y="3809851"/>
            <a:ext cx="719137" cy="1905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512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$120,000</a:t>
            </a:r>
            <a:endParaRPr lang="en-US" sz="1010" dirty="0"/>
          </a:p>
        </p:txBody>
      </p:sp>
      <p:sp>
        <p:nvSpPr>
          <p:cNvPr id="48" name="Shape 46"/>
          <p:cNvSpPr/>
          <p:nvPr/>
        </p:nvSpPr>
        <p:spPr>
          <a:xfrm>
            <a:off x="6351836" y="1871588"/>
            <a:ext cx="2243138" cy="628650"/>
          </a:xfrm>
          <a:prstGeom prst="roundRect">
            <a:avLst>
              <a:gd name="adj" fmla="val 7273"/>
            </a:avLst>
          </a:prstGeom>
          <a:solidFill>
            <a:srgbClr val="FFFFFF">
              <a:alpha val="1961"/>
            </a:srgbClr>
          </a:solidFill>
          <a:ln w="4763">
            <a:solidFill>
              <a:srgbClr val="FFFFFF">
                <a:alpha val="5098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520904" y="1989906"/>
            <a:ext cx="1905000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spcAft>
                <a:spcPts val="203"/>
              </a:spcAft>
              <a:buNone/>
            </a:pPr>
            <a:r>
              <a:rPr lang="en-US" sz="680" kern="0" spc="3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BURN RATE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6520904" y="2144799"/>
            <a:ext cx="1905000" cy="243656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72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1,800</a:t>
            </a:r>
            <a:r>
              <a:rPr lang="en-US" sz="16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</a:t>
            </a:r>
            <a:r>
              <a:rPr lang="en-US" sz="79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</a:t>
            </a:r>
            <a:endParaRPr lang="en-US" sz="1870" dirty="0"/>
          </a:p>
        </p:txBody>
      </p:sp>
      <p:sp>
        <p:nvSpPr>
          <p:cNvPr id="51" name="Shape 49"/>
          <p:cNvSpPr/>
          <p:nvPr/>
        </p:nvSpPr>
        <p:spPr>
          <a:xfrm>
            <a:off x="6351836" y="2603822"/>
            <a:ext cx="2243138" cy="628650"/>
          </a:xfrm>
          <a:prstGeom prst="roundRect">
            <a:avLst>
              <a:gd name="adj" fmla="val 7273"/>
            </a:avLst>
          </a:prstGeom>
          <a:solidFill>
            <a:srgbClr val="FFFFFF">
              <a:alpha val="1961"/>
            </a:srgbClr>
          </a:solidFill>
          <a:ln w="4763">
            <a:solidFill>
              <a:srgbClr val="FFFFFF">
                <a:alpha val="5098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20904" y="2722141"/>
            <a:ext cx="1905000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spcAft>
                <a:spcPts val="203"/>
              </a:spcAft>
              <a:buNone/>
            </a:pPr>
            <a:r>
              <a:rPr lang="en-US" sz="680" kern="0" spc="3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RECURRING OPS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6520904" y="2877034"/>
            <a:ext cx="1905000" cy="24602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72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Inter" pitchFamily="34" charset="-120"/>
              </a:rPr>
              <a:t>KES 7,500</a:t>
            </a:r>
            <a:r>
              <a:rPr lang="en-US" sz="16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79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month</a:t>
            </a:r>
            <a:endParaRPr lang="en-US" sz="1870" dirty="0"/>
          </a:p>
        </p:txBody>
      </p:sp>
      <p:sp>
        <p:nvSpPr>
          <p:cNvPr id="54" name="Shape 52"/>
          <p:cNvSpPr/>
          <p:nvPr/>
        </p:nvSpPr>
        <p:spPr>
          <a:xfrm>
            <a:off x="6351836" y="3335499"/>
            <a:ext cx="2243138" cy="681038"/>
          </a:xfrm>
          <a:prstGeom prst="roundRect">
            <a:avLst>
              <a:gd name="adj" fmla="val 6713"/>
            </a:avLst>
          </a:prstGeom>
          <a:solidFill>
            <a:srgbClr val="FFFFFF">
              <a:alpha val="1961"/>
            </a:srgbClr>
          </a:solidFill>
          <a:ln w="4763">
            <a:solidFill>
              <a:srgbClr val="FFFFFF">
                <a:alpha val="5098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20904" y="3454375"/>
            <a:ext cx="1905000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spcAft>
                <a:spcPts val="203"/>
              </a:spcAft>
              <a:buNone/>
            </a:pPr>
            <a:r>
              <a:rPr lang="en-US" sz="680" kern="0" spc="3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SCHEDULE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6520904" y="3608710"/>
            <a:ext cx="1905000" cy="2905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phase-gated milestones at 25% each.</a:t>
            </a:r>
            <a:endParaRPr lang="en-US" sz="830" dirty="0"/>
          </a:p>
        </p:txBody>
      </p:sp>
      <p:sp>
        <p:nvSpPr>
          <p:cNvPr id="57" name="Text 55"/>
          <p:cNvSpPr/>
          <p:nvPr/>
        </p:nvSpPr>
        <p:spPr>
          <a:xfrm>
            <a:off x="2560290" y="4594436"/>
            <a:ext cx="1095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8167167" y="4601580"/>
            <a:ext cx="4286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Tourly, Inc.</a:t>
            </a:r>
            <a:endParaRPr lang="en-US" sz="650" dirty="0"/>
          </a:p>
        </p:txBody>
      </p:sp>
      <p:pic>
        <p:nvPicPr>
          <p:cNvPr id="5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  <p:pic>
        <p:nvPicPr>
          <p:cNvPr id="6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47032" y="1886508"/>
            <a:ext cx="3143250" cy="219075"/>
          </a:xfrm>
          <a:prstGeom prst="rect">
            <a:avLst/>
          </a:prstGeom>
        </p:spPr>
      </p:pic>
      <p:pic>
        <p:nvPicPr>
          <p:cNvPr id="6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47032" y="2105695"/>
            <a:ext cx="3143250" cy="309562"/>
          </a:xfrm>
          <a:prstGeom prst="rect">
            <a:avLst/>
          </a:prstGeom>
        </p:spPr>
      </p:pic>
      <p:pic>
        <p:nvPicPr>
          <p:cNvPr id="6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47032" y="2415555"/>
            <a:ext cx="3143250" cy="309562"/>
          </a:xfrm>
          <a:prstGeom prst="rect">
            <a:avLst/>
          </a:prstGeom>
        </p:spPr>
      </p:pic>
      <p:pic>
        <p:nvPicPr>
          <p:cNvPr id="63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47032" y="2725415"/>
            <a:ext cx="3143250" cy="309562"/>
          </a:xfrm>
          <a:prstGeom prst="rect">
            <a:avLst/>
          </a:prstGeom>
        </p:spPr>
      </p:pic>
      <p:pic>
        <p:nvPicPr>
          <p:cNvPr id="64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47032" y="3035275"/>
            <a:ext cx="3143250" cy="309562"/>
          </a:xfrm>
          <a:prstGeom prst="rect">
            <a:avLst/>
          </a:prstGeom>
        </p:spPr>
      </p:pic>
      <p:pic>
        <p:nvPicPr>
          <p:cNvPr id="65" name="Image 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47032" y="3701281"/>
            <a:ext cx="3143250" cy="300038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1874C63E-139C-2F94-70C8-575F6C39A29C}"/>
              </a:ext>
            </a:extLst>
          </p:cNvPr>
          <p:cNvSpPr txBox="1"/>
          <p:nvPr/>
        </p:nvSpPr>
        <p:spPr>
          <a:xfrm>
            <a:off x="5423441" y="2134895"/>
            <a:ext cx="583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6"/>
                </a:solidFill>
                <a:highlight>
                  <a:srgbClr val="000D26"/>
                </a:highlight>
              </a:rPr>
              <a:t>10,000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ABBB7EC-BF44-F5E6-18AF-20CD156A6FDF}"/>
              </a:ext>
            </a:extLst>
          </p:cNvPr>
          <p:cNvSpPr txBox="1"/>
          <p:nvPr/>
        </p:nvSpPr>
        <p:spPr>
          <a:xfrm>
            <a:off x="5474685" y="3372445"/>
            <a:ext cx="583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6"/>
                </a:solidFill>
                <a:highlight>
                  <a:srgbClr val="000D26"/>
                </a:highlight>
              </a:rPr>
              <a:t>5,000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B16221-1F07-CD09-3A50-4060186F53E7}"/>
              </a:ext>
            </a:extLst>
          </p:cNvPr>
          <p:cNvSpPr txBox="1"/>
          <p:nvPr/>
        </p:nvSpPr>
        <p:spPr>
          <a:xfrm>
            <a:off x="5475451" y="3043723"/>
            <a:ext cx="5497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6"/>
                </a:solidFill>
                <a:highlight>
                  <a:srgbClr val="000D26"/>
                </a:highlight>
              </a:rPr>
              <a:t>5,000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E918E81-5D3F-C9BD-4208-C1A0C0565B53}"/>
              </a:ext>
            </a:extLst>
          </p:cNvPr>
          <p:cNvSpPr txBox="1"/>
          <p:nvPr/>
        </p:nvSpPr>
        <p:spPr>
          <a:xfrm>
            <a:off x="5474684" y="2750291"/>
            <a:ext cx="5497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6"/>
                </a:solidFill>
                <a:highlight>
                  <a:srgbClr val="000D26"/>
                </a:highlight>
              </a:rPr>
              <a:t>5,000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6BC642B-E088-4376-696F-A10A3C666C34}"/>
              </a:ext>
            </a:extLst>
          </p:cNvPr>
          <p:cNvSpPr txBox="1"/>
          <p:nvPr/>
        </p:nvSpPr>
        <p:spPr>
          <a:xfrm>
            <a:off x="5474685" y="2434437"/>
            <a:ext cx="5497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6"/>
                </a:solidFill>
                <a:highlight>
                  <a:srgbClr val="000D26"/>
                </a:highlight>
              </a:rPr>
              <a:t>5,000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17B6039-8AEC-8EBC-91FA-EC2C5DB3656B}"/>
              </a:ext>
            </a:extLst>
          </p:cNvPr>
          <p:cNvSpPr txBox="1"/>
          <p:nvPr/>
        </p:nvSpPr>
        <p:spPr>
          <a:xfrm>
            <a:off x="5171480" y="3797390"/>
            <a:ext cx="10069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highlight>
                  <a:srgbClr val="000D26"/>
                </a:highlight>
              </a:rPr>
              <a:t>KES = 30,000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080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4388607" y="954918"/>
            <a:ext cx="366712" cy="366712"/>
          </a:xfrm>
          <a:prstGeom prst="roundRect">
            <a:avLst>
              <a:gd name="adj" fmla="val 24935"/>
            </a:avLst>
          </a:prstGeom>
          <a:solidFill>
            <a:srgbClr val="7AA2F7"/>
          </a:solidFill>
          <a:ln/>
        </p:spPr>
      </p:sp>
      <p:sp>
        <p:nvSpPr>
          <p:cNvPr id="4" name="Shape 2"/>
          <p:cNvSpPr/>
          <p:nvPr/>
        </p:nvSpPr>
        <p:spPr>
          <a:xfrm>
            <a:off x="4481475" y="1047787"/>
            <a:ext cx="180975" cy="180975"/>
          </a:xfrm>
          <a:prstGeom prst="roundRect">
            <a:avLst>
              <a:gd name="adj" fmla="val 25263"/>
            </a:avLst>
          </a:prstGeom>
          <a:solidFill>
            <a:srgbClr val="1A1B26"/>
          </a:solidFill>
          <a:ln/>
        </p:spPr>
      </p:sp>
      <p:sp>
        <p:nvSpPr>
          <p:cNvPr id="5" name="Text 3"/>
          <p:cNvSpPr/>
          <p:nvPr/>
        </p:nvSpPr>
        <p:spPr>
          <a:xfrm>
            <a:off x="3057525" y="1526344"/>
            <a:ext cx="3028950" cy="4810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3600" b="1" kern="0" spc="-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to Build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69146" y="2798267"/>
            <a:ext cx="4024312" cy="5667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85"/>
              </a:lnSpc>
              <a:spcBef>
                <a:spcPts val="1215"/>
              </a:spcBef>
              <a:spcAft>
                <a:spcPts val="2430"/>
              </a:spcAft>
              <a:buNone/>
            </a:pPr>
            <a:r>
              <a:rPr lang="en-US" sz="10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 delivers a typed, contract-first travel platform on a 16-week schedule for a fixed budget — with a clear hand-off plan and room to grow.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478881" y="3826371"/>
            <a:ext cx="4186238" cy="361950"/>
          </a:xfrm>
          <a:prstGeom prst="rect">
            <a:avLst/>
          </a:prstGeom>
          <a:ln/>
        </p:spPr>
      </p:sp>
      <p:sp>
        <p:nvSpPr>
          <p:cNvPr id="10" name="Shape 8"/>
          <p:cNvSpPr/>
          <p:nvPr/>
        </p:nvSpPr>
        <p:spPr>
          <a:xfrm>
            <a:off x="2478658" y="4067324"/>
            <a:ext cx="90488" cy="9048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/>
          <p:nvPr/>
        </p:nvSpPr>
        <p:spPr>
          <a:xfrm>
            <a:off x="2660452" y="4036368"/>
            <a:ext cx="80962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16-week delivery</a:t>
            </a:r>
            <a:endParaRPr lang="en-US" sz="790" dirty="0"/>
          </a:p>
        </p:txBody>
      </p:sp>
      <p:sp>
        <p:nvSpPr>
          <p:cNvPr id="12" name="Shape 10"/>
          <p:cNvSpPr/>
          <p:nvPr/>
        </p:nvSpPr>
        <p:spPr>
          <a:xfrm>
            <a:off x="3835747" y="4067324"/>
            <a:ext cx="90488" cy="90488"/>
          </a:xfrm>
          <a:prstGeom prst="ellipse">
            <a:avLst/>
          </a:prstGeom>
          <a:solidFill>
            <a:srgbClr val="E0AF68"/>
          </a:solidFill>
          <a:ln/>
        </p:spPr>
      </p:sp>
      <p:sp>
        <p:nvSpPr>
          <p:cNvPr id="13" name="Text 11"/>
          <p:cNvSpPr/>
          <p:nvPr/>
        </p:nvSpPr>
        <p:spPr>
          <a:xfrm>
            <a:off x="4017429" y="4036368"/>
            <a:ext cx="947737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$120K budget</a:t>
            </a:r>
            <a:endParaRPr lang="en-US" sz="790" dirty="0"/>
          </a:p>
        </p:txBody>
      </p:sp>
      <p:sp>
        <p:nvSpPr>
          <p:cNvPr id="14" name="Shape 12"/>
          <p:cNvSpPr/>
          <p:nvPr/>
        </p:nvSpPr>
        <p:spPr>
          <a:xfrm>
            <a:off x="5330726" y="4067324"/>
            <a:ext cx="90488" cy="90488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5" name="Text 13"/>
          <p:cNvSpPr/>
          <p:nvPr/>
        </p:nvSpPr>
        <p:spPr>
          <a:xfrm>
            <a:off x="5513152" y="4036368"/>
            <a:ext cx="115252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end-to-end stack</a:t>
            </a:r>
            <a:endParaRPr lang="en-US" sz="790" dirty="0"/>
          </a:p>
        </p:txBody>
      </p:sp>
      <p:sp>
        <p:nvSpPr>
          <p:cNvPr id="16" name="Text 14"/>
          <p:cNvSpPr/>
          <p:nvPr/>
        </p:nvSpPr>
        <p:spPr>
          <a:xfrm>
            <a:off x="731565" y="4697276"/>
            <a:ext cx="1095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7984257" y="4704420"/>
            <a:ext cx="4286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Tourly, Inc.</a:t>
            </a:r>
            <a:endParaRPr lang="en-US" sz="6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8881" y="3826371"/>
            <a:ext cx="4186238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61FA69-14E0-03A1-068F-393F0694B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65" y="270780"/>
            <a:ext cx="4007005" cy="39213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B9D5B6-38F3-BE1F-F21D-894C83145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0780"/>
            <a:ext cx="4142935" cy="388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648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85A339-1664-6A56-4792-A8FCA13E7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94" y="590346"/>
            <a:ext cx="4415806" cy="37732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992889-DE68-991A-956E-0AC4721C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914" y="590345"/>
            <a:ext cx="4336007" cy="377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107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5A1679-F512-0F10-2EDB-E942F58DA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976" y="442685"/>
            <a:ext cx="6144882" cy="443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48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009775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273807" y="270383"/>
            <a:ext cx="138113" cy="138113"/>
          </a:xfrm>
          <a:prstGeom prst="roundRect">
            <a:avLst>
              <a:gd name="adj" fmla="val 19862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295" y="256133"/>
            <a:ext cx="438150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tourly.io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4774" y="730188"/>
            <a:ext cx="14573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spcAft>
                <a:spcPts val="810"/>
              </a:spcAft>
              <a:buNone/>
            </a:pPr>
            <a:r>
              <a:rPr lang="en-US" sz="650" b="1" kern="0" spc="32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DOCS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774" y="956183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274774" y="1170422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274774" y="1384660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Back-end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274774" y="1598898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274774" y="1942021"/>
            <a:ext cx="14573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spcAft>
                <a:spcPts val="810"/>
              </a:spcAft>
              <a:buNone/>
            </a:pPr>
            <a:r>
              <a:rPr lang="en-US" sz="650" b="1" kern="0" spc="32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74774" y="2168017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274774" y="2382255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0" y="2610743"/>
            <a:ext cx="19050" cy="109537"/>
          </a:xfrm>
          <a:prstGeom prst="roundRect">
            <a:avLst>
              <a:gd name="adj" fmla="val 50000"/>
            </a:avLst>
          </a:prstGeom>
          <a:solidFill>
            <a:srgbClr val="7AA2F7"/>
          </a:solidFill>
          <a:ln/>
        </p:spPr>
      </p:sp>
      <p:sp>
        <p:nvSpPr>
          <p:cNvPr id="15" name="Text 13"/>
          <p:cNvSpPr/>
          <p:nvPr/>
        </p:nvSpPr>
        <p:spPr>
          <a:xfrm>
            <a:off x="64740" y="2606501"/>
            <a:ext cx="4954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ts val="1080"/>
              </a:lnSpc>
              <a:buNone/>
            </a:pPr>
            <a:r>
              <a:rPr lang="en-US" sz="72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74774" y="4776713"/>
            <a:ext cx="1457325" cy="1095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64"/>
              </a:lnSpc>
              <a:spcBef>
                <a:spcPts val="16083"/>
              </a:spcBef>
              <a:buNone/>
            </a:pPr>
            <a:r>
              <a:rPr lang="en-US" sz="5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v1.0.0 • 2026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2560774" y="410952"/>
            <a:ext cx="6034088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spcAft>
                <a:spcPts val="810"/>
              </a:spcAft>
              <a:buNone/>
            </a:pPr>
            <a:r>
              <a:rPr lang="en-US" sz="720" b="1" kern="0" spc="36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06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2560774" y="650491"/>
            <a:ext cx="6034088" cy="6191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860"/>
              </a:lnSpc>
              <a:buNone/>
            </a:pPr>
            <a:r>
              <a:rPr lang="en-US" sz="3240" b="1" kern="0" spc="-8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3240" dirty="0"/>
          </a:p>
        </p:txBody>
      </p:sp>
      <p:sp>
        <p:nvSpPr>
          <p:cNvPr id="19" name="Text 17"/>
          <p:cNvSpPr/>
          <p:nvPr/>
        </p:nvSpPr>
        <p:spPr>
          <a:xfrm>
            <a:off x="2560216" y="1371414"/>
            <a:ext cx="41148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spcBef>
                <a:spcPts val="810"/>
              </a:spcBef>
              <a:spcAft>
                <a:spcPts val="2025"/>
              </a:spcAft>
              <a:buNone/>
            </a:pPr>
            <a:r>
              <a:rPr lang="en-US" sz="101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informing architecture, standards, and delivery practices.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2561146" y="1803946"/>
            <a:ext cx="1809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[1]</a:t>
            </a:r>
            <a:endParaRPr lang="en-US" sz="790" dirty="0"/>
          </a:p>
        </p:txBody>
      </p:sp>
      <p:sp>
        <p:nvSpPr>
          <p:cNvPr id="21" name="Text 19"/>
          <p:cNvSpPr/>
          <p:nvPr/>
        </p:nvSpPr>
        <p:spPr>
          <a:xfrm>
            <a:off x="2879750" y="1805583"/>
            <a:ext cx="5167312" cy="3000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Fielding, R. T. (2000). </a:t>
            </a:r>
            <a:r>
              <a:rPr lang="en-US" sz="86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Architectural Styles and the Design of Network-based Software Architectures</a:t>
            </a:r>
            <a:r>
              <a:rPr lang="en-US" sz="8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2879750" y="2127870"/>
            <a:ext cx="5167312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spcBef>
                <a:spcPts val="162"/>
              </a:spcBef>
              <a:buNone/>
            </a:pPr>
            <a:r>
              <a:rPr lang="en-US" sz="6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Doctoral dissertation, University of California, Irvine.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2561146" y="2369641"/>
            <a:ext cx="1809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[2]</a:t>
            </a:r>
            <a:endParaRPr lang="en-US" sz="790" dirty="0"/>
          </a:p>
        </p:txBody>
      </p:sp>
      <p:sp>
        <p:nvSpPr>
          <p:cNvPr id="24" name="Text 22"/>
          <p:cNvSpPr/>
          <p:nvPr/>
        </p:nvSpPr>
        <p:spPr>
          <a:xfrm>
            <a:off x="2880606" y="2369641"/>
            <a:ext cx="275272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OpenAPI Initiative (2024). </a:t>
            </a:r>
            <a:r>
              <a:rPr lang="en-US" sz="86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OpenAPI Specification 3.1.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2880606" y="2542654"/>
            <a:ext cx="2752725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spcBef>
                <a:spcPts val="162"/>
              </a:spcBef>
              <a:buNone/>
            </a:pPr>
            <a:r>
              <a:rPr lang="en-US" sz="6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spec.openapis.org/oas/v3.1.0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561146" y="2784425"/>
            <a:ext cx="1809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[3]</a:t>
            </a:r>
            <a:endParaRPr lang="en-US" sz="790" dirty="0"/>
          </a:p>
        </p:txBody>
      </p:sp>
      <p:sp>
        <p:nvSpPr>
          <p:cNvPr id="27" name="Text 25"/>
          <p:cNvSpPr/>
          <p:nvPr/>
        </p:nvSpPr>
        <p:spPr>
          <a:xfrm>
            <a:off x="2880159" y="2784425"/>
            <a:ext cx="45243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Mozilla Developer Network (2025). </a:t>
            </a:r>
            <a:r>
              <a:rPr lang="en-US" sz="86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Docs: HTML, CSS, and JavaScript references.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2880159" y="2957438"/>
            <a:ext cx="4524375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spcBef>
                <a:spcPts val="162"/>
              </a:spcBef>
              <a:buNone/>
            </a:pPr>
            <a:r>
              <a:rPr lang="en-US" sz="6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developer.mozilla.org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2561146" y="3199209"/>
            <a:ext cx="1809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[4]</a:t>
            </a:r>
            <a:endParaRPr lang="en-US" sz="790" dirty="0"/>
          </a:p>
        </p:txBody>
      </p:sp>
      <p:sp>
        <p:nvSpPr>
          <p:cNvPr id="30" name="Text 28"/>
          <p:cNvSpPr/>
          <p:nvPr/>
        </p:nvSpPr>
        <p:spPr>
          <a:xfrm>
            <a:off x="2880866" y="3199209"/>
            <a:ext cx="47815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W3C Web Accessibility Initiative (2023). </a:t>
            </a:r>
            <a:r>
              <a:rPr lang="en-US" sz="86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Content Accessibility Guidelines (WCAG) 2.2.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2880866" y="3372222"/>
            <a:ext cx="4781550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spcBef>
                <a:spcPts val="162"/>
              </a:spcBef>
              <a:buNone/>
            </a:pPr>
            <a:r>
              <a:rPr lang="en-US" sz="6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w3.org/TR/WCAG22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2561146" y="3613993"/>
            <a:ext cx="1809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[5]</a:t>
            </a:r>
            <a:endParaRPr lang="en-US" sz="790" dirty="0"/>
          </a:p>
        </p:txBody>
      </p:sp>
      <p:sp>
        <p:nvSpPr>
          <p:cNvPr id="33" name="Text 31"/>
          <p:cNvSpPr/>
          <p:nvPr/>
        </p:nvSpPr>
        <p:spPr>
          <a:xfrm>
            <a:off x="2880680" y="3613993"/>
            <a:ext cx="41338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Global Development Group (2024). </a:t>
            </a:r>
            <a:r>
              <a:rPr lang="en-US" sz="86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16 Documentation.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2880680" y="3787006"/>
            <a:ext cx="4133850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spcBef>
                <a:spcPts val="162"/>
              </a:spcBef>
              <a:buNone/>
            </a:pPr>
            <a:r>
              <a:rPr lang="en-US" sz="6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postgresql.org/docs/16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2561146" y="4028777"/>
            <a:ext cx="1809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[6]</a:t>
            </a:r>
            <a:endParaRPr lang="en-US" sz="790" dirty="0"/>
          </a:p>
        </p:txBody>
      </p:sp>
      <p:sp>
        <p:nvSpPr>
          <p:cNvPr id="36" name="Text 34"/>
          <p:cNvSpPr/>
          <p:nvPr/>
        </p:nvSpPr>
        <p:spPr>
          <a:xfrm>
            <a:off x="2879750" y="4030414"/>
            <a:ext cx="5167312" cy="3000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Management Institute (2021). </a:t>
            </a:r>
            <a:r>
              <a:rPr lang="en-US" sz="86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Guide to the Project Management Body of Knowledge (PMBOK Guide)</a:t>
            </a:r>
            <a:r>
              <a:rPr lang="en-US" sz="8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7th ed.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2879750" y="4352702"/>
            <a:ext cx="5167312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26"/>
              </a:lnSpc>
              <a:spcBef>
                <a:spcPts val="162"/>
              </a:spcBef>
              <a:buNone/>
            </a:pPr>
            <a:r>
              <a:rPr lang="en-US" sz="68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Newtown Square, PA: PMI.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2560290" y="4594436"/>
            <a:ext cx="1095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8167167" y="4601580"/>
            <a:ext cx="428625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Tourly, Inc.</a:t>
            </a:r>
            <a:endParaRPr lang="en-US" sz="65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" y="0"/>
            <a:ext cx="2009775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895</Words>
  <Application>Microsoft Office PowerPoint</Application>
  <PresentationFormat>On-screen Show (16:9)</PresentationFormat>
  <Paragraphs>249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Inter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Patrol RBF</cp:lastModifiedBy>
  <cp:revision>4</cp:revision>
  <dcterms:created xsi:type="dcterms:W3CDTF">2026-05-19T00:38:55Z</dcterms:created>
  <dcterms:modified xsi:type="dcterms:W3CDTF">2026-06-01T22:44:56Z</dcterms:modified>
</cp:coreProperties>
</file>